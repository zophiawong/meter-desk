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92900f32064d93" /><Relationship Type="http://schemas.openxmlformats.org/officeDocument/2006/relationships/extended-properties" Target="/docProps/app.xml" Id="R3ea4d93bc40543c6" /><Relationship Type="http://schemas.openxmlformats.org/officeDocument/2006/relationships/officeDocument" Target="/ppt/presentation.xml" Id="R8c3c368457154f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e207709ccc4c1d"/>
  </p:sldMasterIdLst>
  <p:notesMasterIdLst>
    <p:notesMasterId xmlns:r="http://schemas.openxmlformats.org/officeDocument/2006/relationships" r:id="Re9d6cbc1e7644d28"/>
  </p:notesMasterIdLst>
  <p:sldIdLst>
    <p:sldId xmlns:r="http://schemas.openxmlformats.org/officeDocument/2006/relationships" id="256" r:id="Rbf669bf9d1c845d5"/>
    <p:sldId xmlns:r="http://schemas.openxmlformats.org/officeDocument/2006/relationships" id="257" r:id="Rdd951a215d744a40"/>
    <p:sldId xmlns:r="http://schemas.openxmlformats.org/officeDocument/2006/relationships" id="258" r:id="R2431d7f686334510"/>
    <p:sldId xmlns:r="http://schemas.openxmlformats.org/officeDocument/2006/relationships" id="259" r:id="Ra8566118798549f8"/>
    <p:sldId xmlns:r="http://schemas.openxmlformats.org/officeDocument/2006/relationships" id="260" r:id="Rb10e64113c2b426d"/>
    <p:sldId xmlns:r="http://schemas.openxmlformats.org/officeDocument/2006/relationships" id="261" r:id="R5ad0ffeb353a44a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207709ccc4c1d" /><Relationship Type="http://schemas.openxmlformats.org/officeDocument/2006/relationships/theme" Target="/ppt/theme/theme1.xml" Id="R4b986dc373514866" /><Relationship Type="http://schemas.openxmlformats.org/officeDocument/2006/relationships/notesMaster" Target="/ppt/notesMasters/notesMaster1.xml" Id="Re9d6cbc1e7644d28" /><Relationship Type="http://schemas.openxmlformats.org/officeDocument/2006/relationships/presProps" Target="/ppt/presProps.xml" Id="Re9ea553f16bb42a8" /><Relationship Type="http://schemas.openxmlformats.org/officeDocument/2006/relationships/viewProps" Target="/ppt/viewProps.xml" Id="R2f74e99ddd4c4077" /><Relationship Type="http://schemas.openxmlformats.org/officeDocument/2006/relationships/tableStyles" Target="/ppt/tableStyles.xml" Id="R494d98a63db943c8" /><Relationship Type="http://schemas.openxmlformats.org/officeDocument/2006/relationships/slide" Target="/ppt/slides/slide1.xml" Id="Rbf669bf9d1c845d5" /><Relationship Type="http://schemas.openxmlformats.org/officeDocument/2006/relationships/slide" Target="/ppt/slides/slide2.xml" Id="Rdd951a215d744a40" /><Relationship Type="http://schemas.openxmlformats.org/officeDocument/2006/relationships/slide" Target="/ppt/slides/slide3.xml" Id="R2431d7f686334510" /><Relationship Type="http://schemas.openxmlformats.org/officeDocument/2006/relationships/slide" Target="/ppt/slides/slide4.xml" Id="Ra8566118798549f8" /><Relationship Type="http://schemas.openxmlformats.org/officeDocument/2006/relationships/slide" Target="/ppt/slides/slide5.xml" Id="Rb10e64113c2b426d" /><Relationship Type="http://schemas.openxmlformats.org/officeDocument/2006/relationships/slide" Target="/ppt/slides/slide6.xml" Id="R5ad0ffeb353a44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f816e8c492142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4c4331523c423b" /><Relationship Type="http://schemas.openxmlformats.org/officeDocument/2006/relationships/notesMaster" Target="/ppt/notesMasters/notesMaster1.xml" Id="R86a8c501dd6c4e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3f27194d984d05" /><Relationship Type="http://schemas.openxmlformats.org/officeDocument/2006/relationships/notesMaster" Target="/ppt/notesMasters/notesMaster1.xml" Id="R622f98e2e01f42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24dbae27ce4cc5" /><Relationship Type="http://schemas.openxmlformats.org/officeDocument/2006/relationships/notesMaster" Target="/ppt/notesMasters/notesMaster1.xml" Id="R84067e55e5c44c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0a6ab88c594c16" /><Relationship Type="http://schemas.openxmlformats.org/officeDocument/2006/relationships/notesMaster" Target="/ppt/notesMasters/notesMaster1.xml" Id="Rb3fdf8b3ca3943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04d76500b4483e" /><Relationship Type="http://schemas.openxmlformats.org/officeDocument/2006/relationships/notesMaster" Target="/ppt/notesMasters/notesMaster1.xml" Id="Rc128fbd13ded40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1f0513b7f44939" /><Relationship Type="http://schemas.openxmlformats.org/officeDocument/2006/relationships/notesMaster" Target="/ppt/notesMasters/notesMaster1.xml" Id="R01c6c208ca904b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5fa972eda04e4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806dc1c5dd94773" /><Relationship Type="http://schemas.openxmlformats.org/officeDocument/2006/relationships/slideLayout" Target="/ppt/slideLayouts/slideLayout2.xml" Id="Rf8100ff0f32348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100ff0f32348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f7d3e8e6524c66" /><Relationship Type="http://schemas.openxmlformats.org/officeDocument/2006/relationships/notesSlide" Target="/ppt/notesSlides/notesSlide1.xml" Id="Rd37c16481cc744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28723b293441f3" /><Relationship Type="http://schemas.openxmlformats.org/officeDocument/2006/relationships/notesSlide" Target="/ppt/notesSlides/notesSlide2.xml" Id="R67cbdce9e10b4c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25b17aa9654ae2" /><Relationship Type="http://schemas.openxmlformats.org/officeDocument/2006/relationships/image" Target="/ppt/media/image.png" Id="R6c138d266bee48ae" /><Relationship Type="http://schemas.openxmlformats.org/officeDocument/2006/relationships/notesSlide" Target="/ppt/notesSlides/notesSlide3.xml" Id="Rf90d241a6fc54d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9095e898f5471c" /><Relationship Type="http://schemas.openxmlformats.org/officeDocument/2006/relationships/notesSlide" Target="/ppt/notesSlides/notesSlide4.xml" Id="R9b918ae7934243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e246e3e45343cf" /><Relationship Type="http://schemas.openxmlformats.org/officeDocument/2006/relationships/notesSlide" Target="/ppt/notesSlides/notesSlide5.xml" Id="R3408b936ee6244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4ef3e8b4174d97" /><Relationship Type="http://schemas.openxmlformats.org/officeDocument/2006/relationships/image" Target="/ppt/media/image2.png" Id="R7300e547ecca48ab" /><Relationship Type="http://schemas.openxmlformats.org/officeDocument/2006/relationships/notesSlide" Target="/ppt/notesSlides/notesSlide6.xml" Id="Rf6d23b4af78f467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89D10EA-C14B-449E-A6C8-0FE21E21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753BF6A-A7FD-4E40-9D77-2F555967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MeterDesk interview demo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2A821FC-BC76-4B59-9C4C-1D24C050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C5641C5-D54A-44F8-9DE3-C9E105B7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F6B63"/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428BEC9-4747-436E-BF03-42022AE9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项目定位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B748F7E-8251-4F3F-A565-94075EB3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52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MeterDesk 从账单票据开始，不从聊天框开始。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DD859-1B23-4727-9F71-1227F69B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面向 usage-based API / AI 平台的账单支持工作台。Agent 读证据、引用 policy、写草稿；涉及 refund 或 credit 时，只能创建人工审批请求。</a:t>
            </a:r>
          </a:p>
        </p:txBody>
      </p:sp>
      <p:sp>
        <p:nvSpPr>
          <p:cNvPr id="8" name="pill-box">
            <a:extLst xmlns:a="http://schemas.openxmlformats.org/drawingml/2006/main">
              <a:ext uri="{FF2B5EF4-FFF2-40B4-BE49-F238E27FC236}">
                <a16:creationId xmlns:a16="http://schemas.microsoft.com/office/drawing/2014/main" id="{F0CB4B09-D100-4F15-A16D-93DDA16A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9525">
            <a:solidFill>
              <a:srgbClr val="0F6B63"/>
            </a:solidFill>
            <a:prstDash val="solid"/>
          </a:ln>
        </p:spPr>
      </p:sp>
      <p:sp>
        <p:nvSpPr>
          <p:cNvPr id="9" name="pill-label">
            <a:extLst xmlns:a="http://schemas.openxmlformats.org/drawingml/2006/main">
              <a:ext uri="{FF2B5EF4-FFF2-40B4-BE49-F238E27FC236}">
                <a16:creationId xmlns:a16="http://schemas.microsoft.com/office/drawing/2014/main" id="{646EB6FC-1974-4B73-AC12-26E3E90C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v1 golden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0DE59-DD0A-448E-87CE-C4E31BE3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194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Duplicate Charge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1B52E-E6F1-4285-8D57-315DBB26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要让面试官看到的不是“模型会聊天”，而是账单证据、审批门、trace 和 eval 怎么连成一个产品切片。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FD17A9AE-8962-4F22-B509-9C3BF3CB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3144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</p:sp>
      <p:sp>
        <p:nvSpPr>
          <p:cNvPr id="13" name="box-label">
            <a:extLst xmlns:a="http://schemas.openxmlformats.org/drawingml/2006/main">
              <a:ext uri="{FF2B5EF4-FFF2-40B4-BE49-F238E27FC236}">
                <a16:creationId xmlns:a16="http://schemas.microsoft.com/office/drawing/2014/main" id="{2C257C1E-E1D6-4A01-B542-F2A5F477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4668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不是</a:t>
            </a:r>
          </a:p>
          <a:p xmlns:a="http://schemas.openxmlformats.org/drawingml/2006/main">
            <a:pPr algn="ctr">
              <a:defRPr sz="16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客服 chatbot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8E6DBB76-4674-429A-97E3-A3881B5F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193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</p:sp>
      <p:sp>
        <p:nvSpPr>
          <p:cNvPr id="15" name="box-label">
            <a:extLst xmlns:a="http://schemas.openxmlformats.org/drawingml/2006/main">
              <a:ext uri="{FF2B5EF4-FFF2-40B4-BE49-F238E27FC236}">
                <a16:creationId xmlns:a16="http://schemas.microsoft.com/office/drawing/2014/main" id="{EA3A7E97-9BF6-4988-A955-51046D17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717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不是</a:t>
            </a:r>
          </a:p>
          <a:p xmlns:a="http://schemas.openxmlformats.org/drawingml/2006/main">
            <a:pPr algn="ctr">
              <a:defRPr sz="16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真实支付系统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A0D20829-2013-405D-A35D-A7D5CF37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242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</p:sp>
      <p:sp>
        <p:nvSpPr>
          <p:cNvPr id="17" name="box-label">
            <a:extLst xmlns:a="http://schemas.openxmlformats.org/drawingml/2006/main">
              <a:ext uri="{FF2B5EF4-FFF2-40B4-BE49-F238E27FC236}">
                <a16:creationId xmlns:a16="http://schemas.microsoft.com/office/drawing/2014/main" id="{58329D60-8A3F-4CB1-887D-89E83CC8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6766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不是</a:t>
            </a:r>
          </a:p>
          <a:p xmlns:a="http://schemas.openxmlformats.org/drawingml/2006/main">
            <a:pPr algn="ctr">
              <a:defRPr sz="16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大型 RAG 产品</a:t>
            </a:r>
          </a:p>
        </p:txBody>
      </p:sp>
      <p:sp>
        <p:nvSpPr>
          <p:cNvPr id="18" name="divider">
            <a:extLst xmlns:a="http://schemas.openxmlformats.org/drawingml/2006/main">
              <a:ext uri="{FF2B5EF4-FFF2-40B4-BE49-F238E27FC236}">
                <a16:creationId xmlns:a16="http://schemas.microsoft.com/office/drawing/2014/main" id="{EFFBBEEC-E6BB-4C5A-882F-AA60E56E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8"/>
          </a:solidFill>
          <a:ln xmlns:a="http://schemas.openxmlformats.org/drawingml/2006/main" w="0">
            <a:solidFill>
              <a:srgbClr val="C7D0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AABA89-EDD3-4BEB-94E9-972F4914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录屏主线：Duplicate Charge → Approval Queue → Eval Lab</a:t>
            </a:r>
          </a:p>
        </p:txBody>
      </p:sp>
    </p:spTree>
    <p:extLst>
      <p:ext uri="{BB962C8B-B14F-4D97-AF65-F5344CB8AC3E}">
        <p14:creationId xmlns:p14="http://schemas.microsoft.com/office/powerpoint/2010/main" val="19941641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DC76449-9C2A-4CFA-85BF-0A83B7C5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3309948-C789-446E-AA0A-A643AB7D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MeterDesk interview demo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83A8BF9-3DAF-4690-9C78-278FB977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08AF77A-F896-4F58-838A-65E11059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F6B63"/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988A8E3-39A7-4E67-9DF2-0463B628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录屏路线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7F78FAA-0FD8-440C-BE4E-FE3F74F7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858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录屏只走一条操作路径，不做纯 PPT 汇报。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84C6F946-2EF7-4FE8-A503-344EF4A0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22383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6B63"/>
            </a:solidFill>
            <a:prstDash val="solid"/>
          </a:ln>
        </p:spPr>
      </p:sp>
      <p:sp>
        <p:nvSpPr>
          <p:cNvPr id="8" name="box-label">
            <a:extLst xmlns:a="http://schemas.openxmlformats.org/drawingml/2006/main">
              <a:ext uri="{FF2B5EF4-FFF2-40B4-BE49-F238E27FC236}">
                <a16:creationId xmlns:a16="http://schemas.microsoft.com/office/drawing/2014/main" id="{BDFE9425-09D2-4E06-B118-ED578823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18954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</a:t>
            </a:r>
          </a:p>
          <a:p xmlns:a="http://schemas.openxmlformats.org/drawingml/2006/main">
            <a:pPr algn="ctr">
              <a:defRPr sz="18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Workbench</a:t>
            </a:r>
          </a:p>
          <a:p xmlns:a="http://schemas.openxmlformats.org/drawingml/2006/main">
            <a:pPr algn="ctr">
              <a:defRPr sz="18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TCK-1042</a:t>
            </a:r>
          </a:p>
        </p:txBody>
      </p:sp>
      <p:sp>
        <p:nvSpPr>
          <p:cNvPr id="9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334E13C2-39EE-48F9-A78C-6BB4F60E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90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36C232A7-6D7D-45F6-A24A-911C0A7F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52700"/>
            <a:ext cx="22383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7700"/>
            </a:solidFill>
            <a:prstDash val="solid"/>
          </a:ln>
        </p:spPr>
      </p:sp>
      <p:sp>
        <p:nvSpPr>
          <p:cNvPr id="11" name="box-label">
            <a:extLst xmlns:a="http://schemas.openxmlformats.org/drawingml/2006/main">
              <a:ext uri="{FF2B5EF4-FFF2-40B4-BE49-F238E27FC236}">
                <a16:creationId xmlns:a16="http://schemas.microsoft.com/office/drawing/2014/main" id="{F54F4746-E675-4435-9CF1-45F3524A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705100"/>
            <a:ext cx="18954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2</a:t>
            </a:r>
          </a:p>
          <a:p xmlns:a="http://schemas.openxmlformats.org/drawingml/2006/main">
            <a:pPr algn="ctr">
              <a:defRPr sz="18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Approval Queue</a:t>
            </a:r>
          </a:p>
          <a:p xmlns:a="http://schemas.openxmlformats.org/drawingml/2006/main">
            <a:pPr algn="ctr">
              <a:defRPr sz="18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pending action</a:t>
            </a:r>
          </a:p>
        </p:txBody>
      </p:sp>
      <p:sp>
        <p:nvSpPr>
          <p:cNvPr id="12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A38AE99A-784A-4A93-8C2C-68CC6205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990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1296A0C4-1663-4671-B650-2BB6C701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52700"/>
            <a:ext cx="22383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94C73"/>
            </a:solidFill>
            <a:prstDash val="solid"/>
          </a:ln>
        </p:spPr>
      </p:sp>
      <p:sp>
        <p:nvSpPr>
          <p:cNvPr id="14" name="box-label">
            <a:extLst xmlns:a="http://schemas.openxmlformats.org/drawingml/2006/main">
              <a:ext uri="{FF2B5EF4-FFF2-40B4-BE49-F238E27FC236}">
                <a16:creationId xmlns:a16="http://schemas.microsoft.com/office/drawing/2014/main" id="{0C000531-1A73-4990-ACED-0C73FB93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18954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3</a:t>
            </a:r>
          </a:p>
          <a:p xmlns:a="http://schemas.openxmlformats.org/drawingml/2006/main">
            <a:pPr algn="ctr">
              <a:defRPr sz="18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Eval Lab</a:t>
            </a:r>
          </a:p>
          <a:p xmlns:a="http://schemas.openxmlformats.org/drawingml/2006/main">
            <a:pPr algn="ctr">
              <a:defRPr sz="18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trace checks</a:t>
            </a:r>
          </a:p>
        </p:txBody>
      </p:sp>
      <p:sp>
        <p:nvSpPr>
          <p:cNvPr id="15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E0517D05-7FD4-489D-BD45-0AE8CDFF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90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03159E65-871B-45B3-98B5-B00138BB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552700"/>
            <a:ext cx="1524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C7D0D8"/>
            </a:solidFill>
            <a:prstDash val="solid"/>
          </a:ln>
        </p:spPr>
      </p:sp>
      <p:sp>
        <p:nvSpPr>
          <p:cNvPr id="17" name="box-label">
            <a:extLst xmlns:a="http://schemas.openxmlformats.org/drawingml/2006/main">
              <a:ext uri="{FF2B5EF4-FFF2-40B4-BE49-F238E27FC236}">
                <a16:creationId xmlns:a16="http://schemas.microsoft.com/office/drawing/2014/main" id="{80EE32C0-C86F-4290-B18E-6BF92BB2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705100"/>
            <a:ext cx="1181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4</a:t>
            </a:r>
          </a:p>
          <a:p xmlns:a="http://schemas.openxmlformats.org/drawingml/2006/main">
            <a:pPr algn="ctr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TCK-1137</a:t>
            </a:r>
          </a:p>
          <a:p xmlns:a="http://schemas.openxmlformats.org/drawingml/2006/main">
            <a:pPr algn="ctr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support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05DD9-BB4B-40CB-96AF-A3D502B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981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录屏建议：PPT 负责开场和机制解释，真实页面负责证明产品跑得起来。中间不要把每个面板点完，优先讲清 evidence → policy → approval → mutation state。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05005-8C21-440E-AAAE-3F4AC698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77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7700"/>
                </a:solidFill>
                <a:latin typeface="Aptos"/>
                <a:ea typeface="Aptos"/>
                <a:cs typeface="Aptos"/>
              </a:rPr>
              <a:t>删减规则：时间紧就跳过 TCK-1137；不要跳过 approval gate 和 Eval Lab。</a:t>
            </a:r>
          </a:p>
        </p:txBody>
      </p:sp>
    </p:spTree>
    <p:extLst>
      <p:ext uri="{BB962C8B-B14F-4D97-AF65-F5344CB8AC3E}">
        <p14:creationId xmlns:p14="http://schemas.microsoft.com/office/powerpoint/2010/main" val="3155294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FC49F8F-8785-4CEA-B8E1-24D9FACE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6D3CE82-6B85-4CB2-9245-98A34E2D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Source: docs/screenshots/workbench-duplicate-charge-decision-overview.png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F45758F-5688-4AA4-B5E6-82EA9247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60B4B63-3491-40F9-B719-832B99E5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F6B63"/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5FC5E9C-6E84-4315-A8D0-9B65E2CD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Workbench 证据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DC1B1FD-7E73-4B55-AB02-6E3122AA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90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重复扣费的判断，先能被检查，再进入审批。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DDAEBAC9-46D0-44DE-9419-31D81FD8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7315200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212B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38d266bee48ae"/>
          <a:stretch xmlns:a="http://schemas.openxmlformats.org/drawingml/2006/main"/>
        </p:blipFill>
        <p:spPr>
          <a:xfrm xmlns:a="http://schemas.openxmlformats.org/drawingml/2006/main">
            <a:off x="609600" y="2217916"/>
            <a:ext cx="7239000" cy="3717569"/>
          </a:xfrm>
          <a:prstGeom xmlns:a="http://schemas.openxmlformats.org/drawingml/2006/main" prst="rect">
            <a:avLst/>
          </a:prstGeom>
        </p:spPr>
      </p:pic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720FD310-9E67-4C36-975A-AED88579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14550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6B63"/>
            </a:solidFill>
            <a:prstDash val="solid"/>
          </a:ln>
        </p:spPr>
      </p:sp>
      <p:sp>
        <p:nvSpPr>
          <p:cNvPr id="10" name="box-label">
            <a:extLst xmlns:a="http://schemas.openxmlformats.org/drawingml/2006/main">
              <a:ext uri="{FF2B5EF4-FFF2-40B4-BE49-F238E27FC236}">
                <a16:creationId xmlns:a16="http://schemas.microsoft.com/office/drawing/2014/main" id="{CB54916D-492B-409E-9C18-0464E6AD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2686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Evidence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INV-2026-0418 有两笔 captured charges，金额都等于 invoice total。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242A3EE7-074D-4DE7-BE3B-607A7D18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94C73"/>
            </a:solidFill>
            <a:prstDash val="solid"/>
          </a:ln>
        </p:spPr>
      </p:sp>
      <p:sp>
        <p:nvSpPr>
          <p:cNvPr id="12" name="box-label">
            <a:extLst xmlns:a="http://schemas.openxmlformats.org/drawingml/2006/main">
              <a:ext uri="{FF2B5EF4-FFF2-40B4-BE49-F238E27FC236}">
                <a16:creationId xmlns:a16="http://schemas.microsoft.com/office/drawing/2014/main" id="{2321902E-6B28-48F9-AC6C-4081964E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14700"/>
            <a:ext cx="2686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Policy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退款判断引用 REFUND-DUP-001 v2026.02。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6D7904BC-B105-4A68-B776-3AA1A5DB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29100"/>
            <a:ext cx="3028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CB"/>
          </a:solidFill>
          <a:ln xmlns:a="http://schemas.openxmlformats.org/drawingml/2006/main" w="9525">
            <a:solidFill>
              <a:srgbClr val="C77700"/>
            </a:solidFill>
            <a:prstDash val="solid"/>
          </a:ln>
        </p:spPr>
      </p:sp>
      <p:sp>
        <p:nvSpPr>
          <p:cNvPr id="14" name="box-label">
            <a:extLst xmlns:a="http://schemas.openxmlformats.org/drawingml/2006/main">
              <a:ext uri="{FF2B5EF4-FFF2-40B4-BE49-F238E27FC236}">
                <a16:creationId xmlns:a16="http://schemas.microsoft.com/office/drawing/2014/main" id="{7C345F68-6847-4D40-B13D-4E637F82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81500"/>
            <a:ext cx="2686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Safety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Refund proposal 已生成，但 approval pending 时 mutation 仍然 blocked。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61CA4-3D02-484B-B507-8C50FD97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05450"/>
            <a:ext cx="3028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口播重点：先让面试官看到具体账单证据，再解释 agent 的结论。</a:t>
            </a:r>
          </a:p>
        </p:txBody>
      </p:sp>
    </p:spTree>
    <p:extLst>
      <p:ext uri="{BB962C8B-B14F-4D97-AF65-F5344CB8AC3E}">
        <p14:creationId xmlns:p14="http://schemas.microsoft.com/office/powerpoint/2010/main" val="12314870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3B267F8-CB56-466E-AF08-D636ADD8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4096828-06E3-4B04-8777-2DADA85F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MeterDesk interview demo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66F428D-8DC1-4B48-AA78-1F1506E9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53B28B0-33D1-48A3-AB71-18C38340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F6B63"/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62B2268-10E0-40F3-908D-99280169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受治理的 agent run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C82F333-AD36-4017-BBE0-B6BDCF0D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FastAPI 把模型限制在受治理的调查流程里。</a:t>
            </a:r>
          </a:p>
        </p:txBody>
      </p:sp>
      <p:sp>
        <p:nvSpPr>
          <p:cNvPr id="7" name="lane-model">
            <a:extLst xmlns:a="http://schemas.openxmlformats.org/drawingml/2006/main">
              <a:ext uri="{FF2B5EF4-FFF2-40B4-BE49-F238E27FC236}">
                <a16:creationId xmlns:a16="http://schemas.microsoft.com/office/drawing/2014/main" id="{DAF26444-DD3F-4273-9EB7-BD7B1182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D"/>
          </a:solidFill>
          <a:ln xmlns:a="http://schemas.openxmlformats.org/drawingml/2006/main" w="9525">
            <a:solidFill>
              <a:srgbClr val="B7CC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729AA-C208-41AC-B29A-888D145B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3362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Provider boundary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99EB070C-4A81-49AC-AEDA-863F4CF9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098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6B63"/>
            </a:solidFill>
            <a:prstDash val="solid"/>
          </a:ln>
        </p:spPr>
      </p:sp>
      <p:sp>
        <p:nvSpPr>
          <p:cNvPr id="10" name="box-label">
            <a:extLst xmlns:a="http://schemas.openxmlformats.org/drawingml/2006/main">
              <a:ext uri="{FF2B5EF4-FFF2-40B4-BE49-F238E27FC236}">
                <a16:creationId xmlns:a16="http://schemas.microsoft.com/office/drawing/2014/main" id="{FCC19EBA-8275-4613-8785-3F673FD3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62200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bounded plan</a:t>
            </a:r>
          </a:p>
        </p:txBody>
      </p:sp>
      <p:sp>
        <p:nvSpPr>
          <p:cNvPr id="11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53A8D401-C170-4CE5-AE4B-56CB0690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955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57F0DE46-CBE7-4D35-901B-1C830CD9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6B63"/>
            </a:solidFill>
            <a:prstDash val="solid"/>
          </a:ln>
        </p:spPr>
      </p:sp>
      <p:sp>
        <p:nvSpPr>
          <p:cNvPr id="13" name="box-label">
            <a:extLst xmlns:a="http://schemas.openxmlformats.org/drawingml/2006/main">
              <a:ext uri="{FF2B5EF4-FFF2-40B4-BE49-F238E27FC236}">
                <a16:creationId xmlns:a16="http://schemas.microsoft.com/office/drawing/2014/main" id="{E45E31FF-3566-4051-891A-7D05B1FC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362200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draft text</a:t>
            </a:r>
          </a:p>
        </p:txBody>
      </p:sp>
      <p:sp>
        <p:nvSpPr>
          <p:cNvPr id="14" name="lane-backend">
            <a:extLst xmlns:a="http://schemas.openxmlformats.org/drawingml/2006/main">
              <a:ext uri="{FF2B5EF4-FFF2-40B4-BE49-F238E27FC236}">
                <a16:creationId xmlns:a16="http://schemas.microsoft.com/office/drawing/2014/main" id="{8D9BC3BB-2331-4054-BB97-FAE0EACF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10287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661CF1-C818-4CFF-AC06-3AE965C2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FastAPI-owned workflow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A95E24E1-E07A-4840-AA31-1EA6483A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052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C7D0D8"/>
            </a:solidFill>
            <a:prstDash val="solid"/>
          </a:ln>
        </p:spPr>
      </p:sp>
      <p:sp>
        <p:nvSpPr>
          <p:cNvPr id="17" name="box-label">
            <a:extLst xmlns:a="http://schemas.openxmlformats.org/drawingml/2006/main">
              <a:ext uri="{FF2B5EF4-FFF2-40B4-BE49-F238E27FC236}">
                <a16:creationId xmlns:a16="http://schemas.microsoft.com/office/drawing/2014/main" id="{E77FCA90-8F94-4370-BB16-8B548389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57650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plan verifier</a:t>
            </a:r>
          </a:p>
        </p:txBody>
      </p:sp>
      <p:sp>
        <p:nvSpPr>
          <p:cNvPr id="18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D9D60545-48C4-43C1-983C-7DBC4F47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195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B67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11CFE1C3-937F-42DB-9DBD-0D0BFD7D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C7D0D8"/>
            </a:solidFill>
            <a:prstDash val="solid"/>
          </a:ln>
        </p:spPr>
      </p:sp>
      <p:sp>
        <p:nvSpPr>
          <p:cNvPr id="20" name="box-label">
            <a:extLst xmlns:a="http://schemas.openxmlformats.org/drawingml/2006/main">
              <a:ext uri="{FF2B5EF4-FFF2-40B4-BE49-F238E27FC236}">
                <a16:creationId xmlns:a16="http://schemas.microsoft.com/office/drawing/2014/main" id="{5A893429-88AD-483D-BBC6-6021555A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5765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read tools</a:t>
            </a:r>
          </a:p>
        </p:txBody>
      </p:sp>
      <p:sp>
        <p:nvSpPr>
          <p:cNvPr id="21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2B9FF3FE-1346-4F7E-9F03-FAF1A461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0195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B67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47B96A6A-64AF-4E5F-A1D9-828C182A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CB"/>
          </a:solidFill>
          <a:ln xmlns:a="http://schemas.openxmlformats.org/drawingml/2006/main" w="9525">
            <a:solidFill>
              <a:srgbClr val="C77700"/>
            </a:solidFill>
            <a:prstDash val="solid"/>
          </a:ln>
        </p:spPr>
      </p:sp>
      <p:sp>
        <p:nvSpPr>
          <p:cNvPr id="23" name="box-label">
            <a:extLst xmlns:a="http://schemas.openxmlformats.org/drawingml/2006/main">
              <a:ext uri="{FF2B5EF4-FFF2-40B4-BE49-F238E27FC236}">
                <a16:creationId xmlns:a16="http://schemas.microsoft.com/office/drawing/2014/main" id="{8C59BF47-93FB-4032-B28A-2EE2A57A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5765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decision tool</a:t>
            </a:r>
          </a:p>
        </p:txBody>
      </p:sp>
      <p:sp>
        <p:nvSpPr>
          <p:cNvPr id="24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9484ED76-8597-42E3-951B-E332C30B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195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B67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85902AF9-C328-43D4-AB86-D9C022FE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05250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9525">
            <a:solidFill>
              <a:srgbClr val="0F6B63"/>
            </a:solidFill>
            <a:prstDash val="solid"/>
          </a:ln>
        </p:spPr>
      </p:sp>
      <p:sp>
        <p:nvSpPr>
          <p:cNvPr id="26" name="box-label">
            <a:extLst xmlns:a="http://schemas.openxmlformats.org/drawingml/2006/main">
              <a:ext uri="{FF2B5EF4-FFF2-40B4-BE49-F238E27FC236}">
                <a16:creationId xmlns:a16="http://schemas.microsoft.com/office/drawing/2014/main" id="{1CB604CC-CC3D-49B2-80E9-F6A0F953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576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approval request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77FC31-351A-406B-B9C2-9359D77E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Model helps plan and write. Backend verifies, executes tools, owns deterministic eligibility, writes trace, and creates approval.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7109DC-0C55-4B7B-BEA8-BAD674D6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864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770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7700"/>
                </a:solidFill>
                <a:latin typeface="Aptos"/>
                <a:ea typeface="Aptos"/>
                <a:cs typeface="Aptos"/>
              </a:rPr>
              <a:t>不要把 LLM 讲成最终权限来源。</a:t>
            </a:r>
          </a:p>
        </p:txBody>
      </p:sp>
    </p:spTree>
    <p:extLst>
      <p:ext uri="{BB962C8B-B14F-4D97-AF65-F5344CB8AC3E}">
        <p14:creationId xmlns:p14="http://schemas.microsoft.com/office/powerpoint/2010/main" val="12464192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11CA458-4720-4E62-B4BF-AC2B8FB4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8EA5A30-BCBF-4B1E-AF30-88C1CEF7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MeterDesk interview demo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9030957-EAA1-4A91-AD84-B0FC7C70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F0040F2-AB45-49C6-B492-A7FEC36E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F6B63"/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CF259B9-EB77-4782-96E9-B3589C1A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财务安全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4BEFCF0-4AE4-42E3-930A-D96EF391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81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涉及钱的动作，在人工审批前保持 blocked。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B9A084F2-D424-4413-96FD-3A4DA4F1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638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8"/>
            </a:solidFill>
            <a:prstDash val="solid"/>
          </a:ln>
        </p:spPr>
      </p:sp>
      <p:sp>
        <p:nvSpPr>
          <p:cNvPr id="8" name="box-label">
            <a:extLst xmlns:a="http://schemas.openxmlformats.org/drawingml/2006/main">
              <a:ext uri="{FF2B5EF4-FFF2-40B4-BE49-F238E27FC236}">
                <a16:creationId xmlns:a16="http://schemas.microsoft.com/office/drawing/2014/main" id="{C1DCFEC8-05B0-4883-97B5-004B388B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proposed</a:t>
            </a:r>
          </a:p>
          <a:p xmlns:a="http://schemas.openxmlformats.org/drawingml/2006/main">
            <a:pPr algn="ctr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9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B106A517-736D-4628-9794-E80A6FE7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146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B67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7C72A183-7A59-41F0-B422-86328356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479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CB"/>
          </a:solidFill>
          <a:ln xmlns:a="http://schemas.openxmlformats.org/drawingml/2006/main" w="19050">
            <a:solidFill>
              <a:srgbClr val="C77700"/>
            </a:solidFill>
            <a:prstDash val="solid"/>
          </a:ln>
        </p:spPr>
      </p:sp>
      <p:sp>
        <p:nvSpPr>
          <p:cNvPr id="11" name="box-label">
            <a:extLst xmlns:a="http://schemas.openxmlformats.org/drawingml/2006/main">
              <a:ext uri="{FF2B5EF4-FFF2-40B4-BE49-F238E27FC236}">
                <a16:creationId xmlns:a16="http://schemas.microsoft.com/office/drawing/2014/main" id="{B7AA7055-9712-4B77-8589-FABAE2F7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003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pending</a:t>
            </a:r>
          </a:p>
          <a:p xmlns:a="http://schemas.openxmlformats.org/drawingml/2006/main">
            <a:pPr algn="ctr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approval</a:t>
            </a:r>
          </a:p>
        </p:txBody>
      </p:sp>
      <p:sp>
        <p:nvSpPr>
          <p:cNvPr id="12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BD987029-6FB7-42F2-977D-01B52502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146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B67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69D4B8D4-E401-4FA8-8632-9BA277EA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9050">
            <a:solidFill>
              <a:srgbClr val="0F6B63"/>
            </a:solidFill>
            <a:prstDash val="solid"/>
          </a:ln>
        </p:spPr>
      </p:sp>
      <p:sp>
        <p:nvSpPr>
          <p:cNvPr id="14" name="box-label">
            <a:extLst xmlns:a="http://schemas.openxmlformats.org/drawingml/2006/main">
              <a:ext uri="{FF2B5EF4-FFF2-40B4-BE49-F238E27FC236}">
                <a16:creationId xmlns:a16="http://schemas.microsoft.com/office/drawing/2014/main" id="{8FC2C208-D429-4489-939B-6DA76E9F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71700"/>
            <a:ext cx="1276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approved</a:t>
            </a:r>
          </a:p>
        </p:txBody>
      </p:sp>
      <p:sp>
        <p:nvSpPr>
          <p:cNvPr id="15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732AA7CF-209A-4B36-BE90-B2F32D83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669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B170173D-1607-453D-862D-188D1032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193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9050">
            <a:solidFill>
              <a:srgbClr val="0F6B63"/>
            </a:solidFill>
            <a:prstDash val="solid"/>
          </a:ln>
        </p:spPr>
      </p:sp>
      <p:sp>
        <p:nvSpPr>
          <p:cNvPr id="17" name="box-label">
            <a:extLst xmlns:a="http://schemas.openxmlformats.org/drawingml/2006/main">
              <a:ext uri="{FF2B5EF4-FFF2-40B4-BE49-F238E27FC236}">
                <a16:creationId xmlns:a16="http://schemas.microsoft.com/office/drawing/2014/main" id="{E1EB6E9F-FFFB-41BB-8D89-649BD09E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one mock</a:t>
            </a:r>
          </a:p>
          <a:p xmlns:a="http://schemas.openxmlformats.org/drawingml/2006/main">
            <a:pPr algn="ctr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mutation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50344B1A-F9E4-4315-9700-5F02EFB9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528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EDE"/>
          </a:solidFill>
          <a:ln xmlns:a="http://schemas.openxmlformats.org/drawingml/2006/main" w="19050">
            <a:solidFill>
              <a:srgbClr val="B54747"/>
            </a:solidFill>
            <a:prstDash val="solid"/>
          </a:ln>
        </p:spPr>
      </p:sp>
      <p:sp>
        <p:nvSpPr>
          <p:cNvPr id="19" name="box-label">
            <a:extLst xmlns:a="http://schemas.openxmlformats.org/drawingml/2006/main">
              <a:ext uri="{FF2B5EF4-FFF2-40B4-BE49-F238E27FC236}">
                <a16:creationId xmlns:a16="http://schemas.microsoft.com/office/drawing/2014/main" id="{4641BCF5-D52C-4E5A-AC91-869C0D42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05200"/>
            <a:ext cx="1276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rejected</a:t>
            </a:r>
          </a:p>
        </p:txBody>
      </p:sp>
      <p:sp>
        <p:nvSpPr>
          <p:cNvPr id="20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DEB403BA-CBA0-4F3C-B548-9308EB61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004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547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5474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DC7FFF7B-F252-49BE-8479-8B1DD7B8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EDE"/>
          </a:solidFill>
          <a:ln xmlns:a="http://schemas.openxmlformats.org/drawingml/2006/main" w="19050">
            <a:solidFill>
              <a:srgbClr val="B54747"/>
            </a:solidFill>
            <a:prstDash val="solid"/>
          </a:ln>
        </p:spPr>
      </p:sp>
      <p:sp>
        <p:nvSpPr>
          <p:cNvPr id="22" name="box-label">
            <a:extLst xmlns:a="http://schemas.openxmlformats.org/drawingml/2006/main">
              <a:ext uri="{FF2B5EF4-FFF2-40B4-BE49-F238E27FC236}">
                <a16:creationId xmlns:a16="http://schemas.microsoft.com/office/drawing/2014/main" id="{EEA841B1-327A-49BC-A0F3-D9FFCF81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052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closed</a:t>
            </a:r>
          </a:p>
          <a:p xmlns:a="http://schemas.openxmlformats.org/drawingml/2006/main">
            <a:pPr algn="ctr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no mutation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6FB5FA-A173-4E08-AFBB-18521C2B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962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Pending 状态下，mutation tool 仍然 blocked。Approve 后最多执行一次；reject 不会执行。即使 v1 是 mock mutation，也按高风险动作处理。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99CF10-F7F8-48E9-93FF-7F68AFCF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340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77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7700"/>
                </a:solidFill>
                <a:latin typeface="Aptos"/>
                <a:ea typeface="Aptos"/>
                <a:cs typeface="Aptos"/>
              </a:rPr>
              <a:t>面试回答：安全模型先跑清楚，再谈真实支付集成。</a:t>
            </a:r>
          </a:p>
        </p:txBody>
      </p:sp>
    </p:spTree>
    <p:extLst>
      <p:ext uri="{BB962C8B-B14F-4D97-AF65-F5344CB8AC3E}">
        <p14:creationId xmlns:p14="http://schemas.microsoft.com/office/powerpoint/2010/main" val="17417988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D688C4A-6303-41B2-94B7-E81055F7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94337AE-6B44-412A-BCBC-F69B4EE7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Source: docs/screenshots/eval-lab-overview.png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266D620-E454-43A5-80B2-5BA5F51D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103A967-9C79-423D-AEF5-741757DE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F6B63"/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4CF4AFE-7CDE-433F-BD36-9C19C07E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Eval 和下一步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4AE4556-4DD0-42C8-B06E-70BC323F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Eval 检查 trace path，也把覆盖缺口摆出来。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F7638D74-366B-4077-B5EA-A68D27E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0579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212B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0e547ecca48ab"/>
          <a:stretch xmlns:a="http://schemas.openxmlformats.org/drawingml/2006/main"/>
        </p:blipFill>
        <p:spPr>
          <a:xfrm xmlns:a="http://schemas.openxmlformats.org/drawingml/2006/main">
            <a:off x="609600" y="2353164"/>
            <a:ext cx="5981700" cy="3047022"/>
          </a:xfrm>
          <a:prstGeom xmlns:a="http://schemas.openxmlformats.org/drawingml/2006/main" prst="rect">
            <a:avLst/>
          </a:prstGeom>
        </p:spPr>
      </p:pic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5C6DA232-7408-4E32-BF8F-62BC25A2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3714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94C73"/>
            </a:solidFill>
            <a:prstDash val="solid"/>
          </a:ln>
        </p:spPr>
      </p:sp>
      <p:sp>
        <p:nvSpPr>
          <p:cNvPr id="10" name="box-label">
            <a:extLst xmlns:a="http://schemas.openxmlformats.org/drawingml/2006/main">
              <a:ext uri="{FF2B5EF4-FFF2-40B4-BE49-F238E27FC236}">
                <a16:creationId xmlns:a16="http://schemas.microsoft.com/office/drawing/2014/main" id="{7C665441-A23D-4346-AA2F-F6281E76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90750"/>
            <a:ext cx="33718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Eval 重点</a:t>
            </a:r>
          </a:p>
          <a:p xmlns:a="http://schemas.openxmlformats.org/drawingml/2006/main">
            <a:pPr algn="l">
              <a:defRPr sz="14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outcome correctness</a:t>
            </a:r>
          </a:p>
          <a:p xmlns:a="http://schemas.openxmlformats.org/drawingml/2006/main">
            <a:pPr algn="l">
              <a:defRPr sz="14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evidence coverage</a:t>
            </a:r>
          </a:p>
          <a:p xmlns:a="http://schemas.openxmlformats.org/drawingml/2006/main">
            <a:pPr algn="l">
              <a:defRPr sz="14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policy citation</a:t>
            </a:r>
          </a:p>
          <a:p xmlns:a="http://schemas.openxmlformats.org/drawingml/2006/main">
            <a:pPr algn="l">
              <a:defRPr sz="14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approval routing</a:t>
            </a:r>
          </a:p>
          <a:p xmlns:a="http://schemas.openxmlformats.org/drawingml/2006/main">
            <a:pPr algn="l">
              <a:defRPr sz="14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no mutation before approval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C013120B-6658-42DF-A40F-A2DA6E98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371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C7D0D8"/>
            </a:solidFill>
            <a:prstDash val="solid"/>
          </a:ln>
        </p:spPr>
      </p:sp>
      <p:sp>
        <p:nvSpPr>
          <p:cNvPr id="12" name="box-label">
            <a:extLst xmlns:a="http://schemas.openxmlformats.org/drawingml/2006/main">
              <a:ext uri="{FF2B5EF4-FFF2-40B4-BE49-F238E27FC236}">
                <a16:creationId xmlns:a16="http://schemas.microsoft.com/office/drawing/2014/main" id="{CC316BB5-A40C-43B8-A47F-33B15BD6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57650"/>
            <a:ext cx="3371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LLM-as-judge 只做辅助</a:t>
            </a:r>
          </a:p>
          <a:p xmlns:a="http://schemas.openxmlformats.org/drawingml/2006/main">
            <a:pPr algn="l">
              <a:defRPr sz="14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只看 draft clarity 和语气，不替代安全检查。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3AFB9E84-BF63-4B3A-9ACA-4690FF8A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10150"/>
            <a:ext cx="371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9525">
            <a:solidFill>
              <a:srgbClr val="0F6B63"/>
            </a:solidFill>
            <a:prstDash val="solid"/>
          </a:ln>
        </p:spPr>
      </p:sp>
      <p:sp>
        <p:nvSpPr>
          <p:cNvPr id="14" name="box-label">
            <a:extLst xmlns:a="http://schemas.openxmlformats.org/drawingml/2006/main">
              <a:ext uri="{FF2B5EF4-FFF2-40B4-BE49-F238E27FC236}">
                <a16:creationId xmlns:a16="http://schemas.microsoft.com/office/drawing/2014/main" id="{24A22AD7-64AF-4645-8DF8-E101856F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62550"/>
            <a:ext cx="3371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Next work</a:t>
            </a:r>
          </a:p>
          <a:p xmlns:a="http://schemas.openxmlformats.org/drawingml/2006/main">
            <a:pPr algn="l">
              <a:defRPr sz="14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补 Usage Spike governed runner，或把 policy / eligibility engine 拆得更清楚。</a:t>
            </a:r>
          </a:p>
        </p:txBody>
      </p:sp>
    </p:spTree>
    <p:extLst>
      <p:ext uri="{BB962C8B-B14F-4D97-AF65-F5344CB8AC3E}">
        <p14:creationId xmlns:p14="http://schemas.microsoft.com/office/powerpoint/2010/main" val="1769226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2026-07-13T12:43:13.0100000Z</dcterms:created>
  <dcterms:modified xsi:type="dcterms:W3CDTF">2026-07-13T12:43:13.0100000Z</dcterms:modified>
</coreProperties>
</file>